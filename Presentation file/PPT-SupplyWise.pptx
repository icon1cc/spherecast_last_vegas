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5" r:id="rId2"/>
    <p:sldId id="266" r:id="rId3"/>
    <p:sldId id="26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83576-FCE5-0341-B27F-509361967ACD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C9F66-877B-544D-8439-2B04DE479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2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F42A-0E7B-1F0A-4026-C458E8A1B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0D5CF-75EF-54C2-8FC5-1BC0BC69C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47987-49F9-B3D6-DC54-E3F30C5C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22413-4E54-1A00-D379-8BF558C6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E370D-C34D-E8AD-30D2-E94E2AC1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25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A485-3FB6-3E50-C5F4-A22FE978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6362-F1C4-B59F-11CD-7714727CD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DD85-D03A-02E5-0375-44FF210D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597FB-E7A4-68CC-8063-4F41A81B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7825D-20BB-6068-E981-9A546EED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0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6154-3BC3-2B63-CA15-4F91C2F8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C6F1E-D36B-56F2-6F0C-EFBE8105C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208F7-D912-BBC2-6638-8F8D43B5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5CDF6-D5DA-B939-9992-248E0A39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2407-92CB-98C7-300A-C418D82F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4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3336-D897-03F8-F9F3-6734369B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2586-41A1-8331-7864-3B742DDA9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B6718-0BE6-8BAC-F2A2-782857E95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E913B-C966-558D-B8FF-F0E95A60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431AA-F38E-FFFB-8128-F133FCF4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4E925-53E0-FE98-D6A4-3B3E8550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8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60F5-64C9-9D03-7947-C808E9D6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D86E6-492C-4376-A239-6AF856C4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068B-440E-34CD-770F-B6F941534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08022D-7898-DE46-598E-54BF254FD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6E2B7-8E7F-48D1-C67D-5C7B6A815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02849-5452-1E58-4313-7C1699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E7256-ED42-EE34-99AE-FD8B91F3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8C1F4-D5CD-E49E-4E5C-CB9449F6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90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2FB-FB9D-5A9C-CDFE-C9580AD3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86CE0-36BB-1F1C-0CB1-542D42C4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E0987-64C7-DED4-EDCD-B9558D34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57A6A-F65B-70B2-E07C-F86FB5D8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7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147C4-DBC7-F311-BD5A-8274D6A3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B9956-7B16-3C62-668E-6C18844F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6A406-2F3E-6E2A-5C99-E1A3AB05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0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496B-6FDB-C8D1-BB63-460B9CB7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7709-BB53-47D5-704C-183BD1F8D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70062-171C-5C33-D350-EE888DEE1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A53A9-FE18-2BFB-405B-F6465D33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15DBE-9D6D-2810-E5C3-6DBC5102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6547A-284A-5847-6785-95A4279F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5FE53-398E-A8A7-D3D8-C0704852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6A7B2-4B8E-28B7-4315-028098BF1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2F775-404C-8006-8F3A-80AACDADB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511E64-533E-A381-7F3B-2D7394CE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36434-6CB7-311C-2AC4-272AC4F1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7ED8D-A481-B6E0-9C5F-EC970B7E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64DE-4D99-4480-C29A-197BA285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C3584-9151-83C6-7039-BBF1D6DB4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37744-F0DB-0FEA-8937-75CBFCB4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F0EFD-4A48-744A-DB5C-8BD76F52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88885-898D-23C0-8EDA-2C44E11D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C010A-0573-DFBA-FF2E-5D170EC14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FF8B0-F04F-F6EC-B9C6-24F2EE1B0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A10A7-F2A9-6C31-9BA4-BBA38A30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D05E8-7887-FEE0-776D-969F5CBC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5EE34-7877-A332-0AB9-BB7CB35B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06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52D9CC-5CA0-1C8B-135C-6A1831F5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790BE-63C6-1474-60A0-0F82932B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7F048-26D3-D893-DB1B-5FEC798AD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E6EE3-A465-BE47-91CB-91A7B5CD1EF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613A9-CC93-411C-D1A6-0C5718ACD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4DC5-D343-58E2-C6B8-55D0A997B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B8DFC-E01F-4141-B431-7603F8B9C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1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2.sv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svg"/><Relationship Id="rId5" Type="http://schemas.openxmlformats.org/officeDocument/2006/relationships/image" Target="../media/image10.sv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.svg"/><Relationship Id="rId4" Type="http://schemas.openxmlformats.org/officeDocument/2006/relationships/image" Target="../media/image23.png"/><Relationship Id="rId9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7412569"/>
            <a:chOff x="0" y="0"/>
            <a:chExt cx="4816593" cy="29284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928422"/>
            </a:xfrm>
            <a:custGeom>
              <a:avLst/>
              <a:gdLst/>
              <a:ahLst/>
              <a:cxnLst/>
              <a:rect l="l" t="t" r="r" b="b"/>
              <a:pathLst>
                <a:path w="4816592" h="2928422">
                  <a:moveTo>
                    <a:pt x="0" y="0"/>
                  </a:moveTo>
                  <a:lnTo>
                    <a:pt x="4816592" y="0"/>
                  </a:lnTo>
                  <a:lnTo>
                    <a:pt x="4816592" y="2928422"/>
                  </a:lnTo>
                  <a:lnTo>
                    <a:pt x="0" y="2928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4816593" cy="29284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2618134" y="2612070"/>
            <a:ext cx="1402369" cy="1211137"/>
          </a:xfrm>
          <a:custGeom>
            <a:avLst/>
            <a:gdLst/>
            <a:ahLst/>
            <a:cxnLst/>
            <a:rect l="l" t="t" r="r" b="b"/>
            <a:pathLst>
              <a:path w="2103554" h="1816706">
                <a:moveTo>
                  <a:pt x="2103554" y="0"/>
                </a:moveTo>
                <a:lnTo>
                  <a:pt x="0" y="0"/>
                </a:lnTo>
                <a:lnTo>
                  <a:pt x="0" y="1816706"/>
                </a:lnTo>
                <a:lnTo>
                  <a:pt x="2103554" y="1816706"/>
                </a:lnTo>
                <a:lnTo>
                  <a:pt x="21035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TextBox 6"/>
          <p:cNvSpPr txBox="1"/>
          <p:nvPr/>
        </p:nvSpPr>
        <p:spPr>
          <a:xfrm>
            <a:off x="4579094" y="2438907"/>
            <a:ext cx="530449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FFFFFF"/>
                </a:solidFill>
                <a:latin typeface="Alegreya Sans Bold"/>
                <a:ea typeface="Alegreya Sans Bold"/>
                <a:cs typeface="Alegreya Sans Bold"/>
                <a:sym typeface="Alegreya Sans Bold"/>
              </a:rPr>
              <a:t>SupplyWise</a:t>
            </a:r>
            <a:endParaRPr lang="en-US" sz="8000" b="1" dirty="0">
              <a:solidFill>
                <a:srgbClr val="FFFFFF"/>
              </a:solidFill>
              <a:latin typeface="Alegreya Sans Bold"/>
              <a:ea typeface="Alegreya Sans Bold"/>
              <a:cs typeface="Alegreya Sans Bold"/>
              <a:sym typeface="Alegrey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73" y="173264"/>
            <a:ext cx="4876800" cy="365760"/>
            <a:chOff x="0" y="0"/>
            <a:chExt cx="97536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600" cy="731520"/>
            </a:xfrm>
            <a:custGeom>
              <a:avLst/>
              <a:gdLst/>
              <a:ahLst/>
              <a:cxnLst/>
              <a:rect l="l" t="t" r="r" b="b"/>
              <a:pathLst>
                <a:path w="9753600" h="73152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0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3322" y="972506"/>
            <a:ext cx="8723732" cy="1184889"/>
            <a:chOff x="0" y="0"/>
            <a:chExt cx="17952691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52690" cy="2438400"/>
            </a:xfrm>
            <a:custGeom>
              <a:avLst/>
              <a:gdLst/>
              <a:ahLst/>
              <a:cxnLst/>
              <a:rect l="l" t="t" r="r" b="b"/>
              <a:pathLst>
                <a:path w="17952690" h="2438400">
                  <a:moveTo>
                    <a:pt x="0" y="0"/>
                  </a:moveTo>
                  <a:lnTo>
                    <a:pt x="17952690" y="0"/>
                  </a:lnTo>
                  <a:lnTo>
                    <a:pt x="1795269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r="-16808" b="-117571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7952691" cy="2428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840"/>
                </a:lnSpc>
              </a:pPr>
              <a:r>
                <a:rPr lang="en-US" sz="3200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Same Materials. Better Supplier.</a:t>
              </a:r>
            </a:p>
            <a:p>
              <a:pPr>
                <a:lnSpc>
                  <a:spcPts val="3840"/>
                </a:lnSpc>
              </a:pPr>
              <a:r>
                <a:rPr lang="en-US" sz="3200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No Way to Know.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0542" y="6072911"/>
            <a:ext cx="10974391" cy="498952"/>
            <a:chOff x="0" y="0"/>
            <a:chExt cx="20970240" cy="95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70239" cy="953414"/>
            </a:xfrm>
            <a:custGeom>
              <a:avLst/>
              <a:gdLst/>
              <a:ahLst/>
              <a:cxnLst/>
              <a:rect l="l" t="t" r="r" b="b"/>
              <a:pathLst>
                <a:path w="20970239" h="953414">
                  <a:moveTo>
                    <a:pt x="0" y="0"/>
                  </a:moveTo>
                  <a:lnTo>
                    <a:pt x="20970239" y="0"/>
                  </a:lnTo>
                  <a:lnTo>
                    <a:pt x="20970239" y="953414"/>
                  </a:lnTo>
                  <a:lnTo>
                    <a:pt x="0" y="9534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814" b="-37332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0970240" cy="962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79"/>
                </a:lnSpc>
              </a:pPr>
              <a:r>
                <a:rPr lang="en-US" sz="1399" b="1" i="1">
                  <a:solidFill>
                    <a:srgbClr val="1800AD"/>
                  </a:solidFill>
                  <a:latin typeface="Source Sans Pro Bold Italics"/>
                  <a:ea typeface="Source Sans Pro Bold Italics"/>
                  <a:cs typeface="Source Sans Pro Bold Italics"/>
                  <a:sym typeface="Source Sans Pro Bold Italics"/>
                </a:rPr>
                <a:t>Organizations deploying analytics in procurement report up to 20% savings potential, yet only ⅓ use e-sourcing tools today. — McKinsey, 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9181" y="76200"/>
            <a:ext cx="3907451" cy="609600"/>
            <a:chOff x="0" y="0"/>
            <a:chExt cx="7814902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14902" cy="1219200"/>
            </a:xfrm>
            <a:custGeom>
              <a:avLst/>
              <a:gdLst/>
              <a:ahLst/>
              <a:cxnLst/>
              <a:rect l="l" t="t" r="r" b="b"/>
              <a:pathLst>
                <a:path w="7814902" h="1219200">
                  <a:moveTo>
                    <a:pt x="0" y="0"/>
                  </a:moveTo>
                  <a:lnTo>
                    <a:pt x="7814902" y="0"/>
                  </a:lnTo>
                  <a:lnTo>
                    <a:pt x="781490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r="23555" b="-4547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814902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47455" y="2816840"/>
            <a:ext cx="2902979" cy="592445"/>
            <a:chOff x="0" y="0"/>
            <a:chExt cx="597408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74080" cy="1219200"/>
            </a:xfrm>
            <a:custGeom>
              <a:avLst/>
              <a:gdLst/>
              <a:ahLst/>
              <a:cxnLst/>
              <a:rect l="l" t="t" r="r" b="b"/>
              <a:pathLst>
                <a:path w="5974080" h="1219200">
                  <a:moveTo>
                    <a:pt x="0" y="0"/>
                  </a:moveTo>
                  <a:lnTo>
                    <a:pt x="5974080" y="0"/>
                  </a:lnTo>
                  <a:lnTo>
                    <a:pt x="5974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9740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Weeks to Evaluate One Alternative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01816" y="2571636"/>
            <a:ext cx="3393825" cy="2978682"/>
            <a:chOff x="0" y="0"/>
            <a:chExt cx="1379595" cy="12108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79595" cy="1210839"/>
            </a:xfrm>
            <a:custGeom>
              <a:avLst/>
              <a:gdLst/>
              <a:ahLst/>
              <a:cxnLst/>
              <a:rect l="l" t="t" r="r" b="b"/>
              <a:pathLst>
                <a:path w="1379595" h="1210839">
                  <a:moveTo>
                    <a:pt x="22812" y="0"/>
                  </a:moveTo>
                  <a:lnTo>
                    <a:pt x="1356783" y="0"/>
                  </a:lnTo>
                  <a:cubicBezTo>
                    <a:pt x="1362833" y="0"/>
                    <a:pt x="1368636" y="2403"/>
                    <a:pt x="1372914" y="6681"/>
                  </a:cubicBezTo>
                  <a:cubicBezTo>
                    <a:pt x="1377192" y="10959"/>
                    <a:pt x="1379595" y="16762"/>
                    <a:pt x="1379595" y="22812"/>
                  </a:cubicBezTo>
                  <a:lnTo>
                    <a:pt x="1379595" y="1188027"/>
                  </a:lnTo>
                  <a:cubicBezTo>
                    <a:pt x="1379595" y="1194077"/>
                    <a:pt x="1377192" y="1199879"/>
                    <a:pt x="1372914" y="1204157"/>
                  </a:cubicBezTo>
                  <a:cubicBezTo>
                    <a:pt x="1368636" y="1208435"/>
                    <a:pt x="1362833" y="1210839"/>
                    <a:pt x="1356783" y="1210839"/>
                  </a:cubicBezTo>
                  <a:lnTo>
                    <a:pt x="22812" y="1210839"/>
                  </a:lnTo>
                  <a:cubicBezTo>
                    <a:pt x="16762" y="1210839"/>
                    <a:pt x="10959" y="1208435"/>
                    <a:pt x="6681" y="1204157"/>
                  </a:cubicBezTo>
                  <a:cubicBezTo>
                    <a:pt x="2403" y="1199879"/>
                    <a:pt x="0" y="1194077"/>
                    <a:pt x="0" y="1188027"/>
                  </a:cubicBezTo>
                  <a:lnTo>
                    <a:pt x="0" y="22812"/>
                  </a:lnTo>
                  <a:cubicBezTo>
                    <a:pt x="0" y="16762"/>
                    <a:pt x="2403" y="10959"/>
                    <a:pt x="6681" y="6681"/>
                  </a:cubicBezTo>
                  <a:cubicBezTo>
                    <a:pt x="10959" y="2403"/>
                    <a:pt x="16762" y="0"/>
                    <a:pt x="22812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379595" cy="12108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847451" y="3527774"/>
            <a:ext cx="2902979" cy="1658845"/>
            <a:chOff x="0" y="0"/>
            <a:chExt cx="5974080" cy="34137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74080" cy="3413760"/>
            </a:xfrm>
            <a:custGeom>
              <a:avLst/>
              <a:gdLst/>
              <a:ahLst/>
              <a:cxnLst/>
              <a:rect l="l" t="t" r="r" b="b"/>
              <a:pathLst>
                <a:path w="5974080" h="3413760">
                  <a:moveTo>
                    <a:pt x="0" y="0"/>
                  </a:moveTo>
                  <a:lnTo>
                    <a:pt x="5974080" y="0"/>
                  </a:lnTo>
                  <a:lnTo>
                    <a:pt x="59740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974080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59"/>
                </a:lnSpc>
              </a:pPr>
              <a:r>
                <a:rPr lang="en-US" sz="1466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Manual catalog search, cert checks, reg cross-referencing. </a:t>
              </a:r>
              <a:r>
                <a:rPr lang="en-US" sz="1466" b="1">
                  <a:solidFill>
                    <a:srgbClr val="1800AD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Most teams just skip it</a:t>
              </a:r>
              <a:r>
                <a:rPr lang="en-US" sz="1466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1003" y="2802026"/>
            <a:ext cx="1671467" cy="592445"/>
            <a:chOff x="0" y="0"/>
            <a:chExt cx="3439734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39734" cy="1219200"/>
            </a:xfrm>
            <a:custGeom>
              <a:avLst/>
              <a:gdLst/>
              <a:ahLst/>
              <a:cxnLst/>
              <a:rect l="l" t="t" r="r" b="b"/>
              <a:pathLst>
                <a:path w="3439734" h="1219200">
                  <a:moveTo>
                    <a:pt x="0" y="0"/>
                  </a:moveTo>
                  <a:lnTo>
                    <a:pt x="3439734" y="0"/>
                  </a:lnTo>
                  <a:lnTo>
                    <a:pt x="343973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r="-73678" b="-4547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439734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Risky Cost</a:t>
              </a:r>
            </a:p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of Opportunity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240373" y="2571636"/>
            <a:ext cx="3476531" cy="2978682"/>
            <a:chOff x="0" y="0"/>
            <a:chExt cx="1413215" cy="12108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13215" cy="1210839"/>
            </a:xfrm>
            <a:custGeom>
              <a:avLst/>
              <a:gdLst/>
              <a:ahLst/>
              <a:cxnLst/>
              <a:rect l="l" t="t" r="r" b="b"/>
              <a:pathLst>
                <a:path w="1413215" h="1210839">
                  <a:moveTo>
                    <a:pt x="22269" y="0"/>
                  </a:moveTo>
                  <a:lnTo>
                    <a:pt x="1390946" y="0"/>
                  </a:lnTo>
                  <a:cubicBezTo>
                    <a:pt x="1396852" y="0"/>
                    <a:pt x="1402517" y="2346"/>
                    <a:pt x="1406693" y="6522"/>
                  </a:cubicBezTo>
                  <a:cubicBezTo>
                    <a:pt x="1410869" y="10699"/>
                    <a:pt x="1413215" y="16363"/>
                    <a:pt x="1413215" y="22269"/>
                  </a:cubicBezTo>
                  <a:lnTo>
                    <a:pt x="1413215" y="1188570"/>
                  </a:lnTo>
                  <a:cubicBezTo>
                    <a:pt x="1413215" y="1194476"/>
                    <a:pt x="1410869" y="1200140"/>
                    <a:pt x="1406693" y="1204316"/>
                  </a:cubicBezTo>
                  <a:cubicBezTo>
                    <a:pt x="1402517" y="1208493"/>
                    <a:pt x="1396852" y="1210839"/>
                    <a:pt x="1390946" y="1210839"/>
                  </a:cubicBezTo>
                  <a:lnTo>
                    <a:pt x="22269" y="1210839"/>
                  </a:lnTo>
                  <a:cubicBezTo>
                    <a:pt x="16363" y="1210839"/>
                    <a:pt x="10699" y="1208493"/>
                    <a:pt x="6522" y="1204316"/>
                  </a:cubicBezTo>
                  <a:cubicBezTo>
                    <a:pt x="2346" y="1200140"/>
                    <a:pt x="0" y="1194476"/>
                    <a:pt x="0" y="1188570"/>
                  </a:cubicBezTo>
                  <a:lnTo>
                    <a:pt x="0" y="22269"/>
                  </a:lnTo>
                  <a:cubicBezTo>
                    <a:pt x="0" y="16363"/>
                    <a:pt x="2346" y="10699"/>
                    <a:pt x="6522" y="6522"/>
                  </a:cubicBezTo>
                  <a:cubicBezTo>
                    <a:pt x="10699" y="2346"/>
                    <a:pt x="16363" y="0"/>
                    <a:pt x="22269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413215" cy="12108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73253" y="3527774"/>
            <a:ext cx="2902979" cy="1658845"/>
            <a:chOff x="0" y="0"/>
            <a:chExt cx="5974080" cy="34137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74080" cy="3413760"/>
            </a:xfrm>
            <a:custGeom>
              <a:avLst/>
              <a:gdLst/>
              <a:ahLst/>
              <a:cxnLst/>
              <a:rect l="l" t="t" r="r" b="b"/>
              <a:pathLst>
                <a:path w="5974080" h="3413760">
                  <a:moveTo>
                    <a:pt x="0" y="0"/>
                  </a:moveTo>
                  <a:lnTo>
                    <a:pt x="5974080" y="0"/>
                  </a:lnTo>
                  <a:lnTo>
                    <a:pt x="59740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974080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59"/>
                </a:lnSpc>
              </a:pPr>
              <a:r>
                <a:rPr lang="en-US" sz="1466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Wrong switch means recalls. Default is inaction — and </a:t>
              </a:r>
              <a:r>
                <a:rPr lang="en-US" sz="1466" b="1">
                  <a:solidFill>
                    <a:srgbClr val="1800AD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inaction is expensive</a:t>
              </a:r>
              <a:r>
                <a:rPr lang="en-US" sz="1466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3323" y="2571636"/>
            <a:ext cx="3476531" cy="2978682"/>
            <a:chOff x="0" y="0"/>
            <a:chExt cx="1413215" cy="12108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13215" cy="1210839"/>
            </a:xfrm>
            <a:custGeom>
              <a:avLst/>
              <a:gdLst/>
              <a:ahLst/>
              <a:cxnLst/>
              <a:rect l="l" t="t" r="r" b="b"/>
              <a:pathLst>
                <a:path w="1413215" h="1210839">
                  <a:moveTo>
                    <a:pt x="22269" y="0"/>
                  </a:moveTo>
                  <a:lnTo>
                    <a:pt x="1390946" y="0"/>
                  </a:lnTo>
                  <a:cubicBezTo>
                    <a:pt x="1396852" y="0"/>
                    <a:pt x="1402517" y="2346"/>
                    <a:pt x="1406693" y="6522"/>
                  </a:cubicBezTo>
                  <a:cubicBezTo>
                    <a:pt x="1410869" y="10699"/>
                    <a:pt x="1413215" y="16363"/>
                    <a:pt x="1413215" y="22269"/>
                  </a:cubicBezTo>
                  <a:lnTo>
                    <a:pt x="1413215" y="1188570"/>
                  </a:lnTo>
                  <a:cubicBezTo>
                    <a:pt x="1413215" y="1194476"/>
                    <a:pt x="1410869" y="1200140"/>
                    <a:pt x="1406693" y="1204316"/>
                  </a:cubicBezTo>
                  <a:cubicBezTo>
                    <a:pt x="1402517" y="1208493"/>
                    <a:pt x="1396852" y="1210839"/>
                    <a:pt x="1390946" y="1210839"/>
                  </a:cubicBezTo>
                  <a:lnTo>
                    <a:pt x="22269" y="1210839"/>
                  </a:lnTo>
                  <a:cubicBezTo>
                    <a:pt x="16363" y="1210839"/>
                    <a:pt x="10699" y="1208493"/>
                    <a:pt x="6522" y="1204316"/>
                  </a:cubicBezTo>
                  <a:cubicBezTo>
                    <a:pt x="2346" y="1200140"/>
                    <a:pt x="0" y="1194476"/>
                    <a:pt x="0" y="1188570"/>
                  </a:cubicBezTo>
                  <a:lnTo>
                    <a:pt x="0" y="22269"/>
                  </a:lnTo>
                  <a:cubicBezTo>
                    <a:pt x="0" y="16363"/>
                    <a:pt x="2346" y="10699"/>
                    <a:pt x="6522" y="6522"/>
                  </a:cubicBezTo>
                  <a:cubicBezTo>
                    <a:pt x="10699" y="2346"/>
                    <a:pt x="16363" y="0"/>
                    <a:pt x="22269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413215" cy="121083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1886" y="2631820"/>
            <a:ext cx="3284542" cy="2883134"/>
            <a:chOff x="0" y="0"/>
            <a:chExt cx="6983311" cy="612987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6949440" cy="6096000"/>
            </a:xfrm>
            <a:custGeom>
              <a:avLst/>
              <a:gdLst/>
              <a:ahLst/>
              <a:cxnLst/>
              <a:rect l="l" t="t" r="r" b="b"/>
              <a:pathLst>
                <a:path w="6949440" h="6096000">
                  <a:moveTo>
                    <a:pt x="0" y="0"/>
                  </a:moveTo>
                  <a:lnTo>
                    <a:pt x="6949440" y="0"/>
                  </a:lnTo>
                  <a:lnTo>
                    <a:pt x="694944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983222" cy="6129782"/>
            </a:xfrm>
            <a:custGeom>
              <a:avLst/>
              <a:gdLst/>
              <a:ahLst/>
              <a:cxnLst/>
              <a:rect l="l" t="t" r="r" b="b"/>
              <a:pathLst>
                <a:path w="6983222" h="612978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6112891"/>
                  </a:lnTo>
                  <a:cubicBezTo>
                    <a:pt x="6983222" y="6122289"/>
                    <a:pt x="6975602" y="6129782"/>
                    <a:pt x="696633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6966331" y="6096000"/>
                  </a:lnTo>
                  <a:lnTo>
                    <a:pt x="6966331" y="6112891"/>
                  </a:lnTo>
                  <a:lnTo>
                    <a:pt x="6949440" y="611289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30819" y="2869159"/>
            <a:ext cx="2809859" cy="573441"/>
            <a:chOff x="0" y="0"/>
            <a:chExt cx="597408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974080" cy="1219200"/>
            </a:xfrm>
            <a:custGeom>
              <a:avLst/>
              <a:gdLst/>
              <a:ahLst/>
              <a:cxnLst/>
              <a:rect l="l" t="t" r="r" b="b"/>
              <a:pathLst>
                <a:path w="5974080" h="1219200">
                  <a:moveTo>
                    <a:pt x="0" y="0"/>
                  </a:moveTo>
                  <a:lnTo>
                    <a:pt x="5974080" y="0"/>
                  </a:lnTo>
                  <a:lnTo>
                    <a:pt x="5974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476" b="-4547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59740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Blind Sourcing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30819" y="3557288"/>
            <a:ext cx="2809859" cy="1605633"/>
            <a:chOff x="0" y="0"/>
            <a:chExt cx="5974080" cy="34137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974080" cy="3413760"/>
            </a:xfrm>
            <a:custGeom>
              <a:avLst/>
              <a:gdLst/>
              <a:ahLst/>
              <a:cxnLst/>
              <a:rect l="l" t="t" r="r" b="b"/>
              <a:pathLst>
                <a:path w="5974080" h="3413760">
                  <a:moveTo>
                    <a:pt x="0" y="0"/>
                  </a:moveTo>
                  <a:lnTo>
                    <a:pt x="5974080" y="0"/>
                  </a:lnTo>
                  <a:lnTo>
                    <a:pt x="59740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974080" cy="3413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59"/>
                </a:lnSpc>
              </a:pPr>
              <a:r>
                <a:rPr lang="en-US" sz="1466" b="1">
                  <a:solidFill>
                    <a:srgbClr val="1800AD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Hundreds of raw materials</a:t>
              </a:r>
              <a:r>
                <a:rPr lang="en-US" sz="1466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no way to spot a better supplier or a compliance risk.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3080911" y="2954052"/>
            <a:ext cx="623623" cy="403654"/>
          </a:xfrm>
          <a:custGeom>
            <a:avLst/>
            <a:gdLst/>
            <a:ahLst/>
            <a:cxnLst/>
            <a:rect l="l" t="t" r="r" b="b"/>
            <a:pathLst>
              <a:path w="935435" h="605481">
                <a:moveTo>
                  <a:pt x="0" y="0"/>
                </a:moveTo>
                <a:lnTo>
                  <a:pt x="935435" y="0"/>
                </a:lnTo>
                <a:lnTo>
                  <a:pt x="935435" y="605481"/>
                </a:lnTo>
                <a:lnTo>
                  <a:pt x="0" y="605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5" name="Freeform 45"/>
          <p:cNvSpPr/>
          <p:nvPr/>
        </p:nvSpPr>
        <p:spPr>
          <a:xfrm>
            <a:off x="7235138" y="2816840"/>
            <a:ext cx="577631" cy="577631"/>
          </a:xfrm>
          <a:custGeom>
            <a:avLst/>
            <a:gdLst/>
            <a:ahLst/>
            <a:cxnLst/>
            <a:rect l="l" t="t" r="r" b="b"/>
            <a:pathLst>
              <a:path w="866446" h="866446">
                <a:moveTo>
                  <a:pt x="0" y="0"/>
                </a:moveTo>
                <a:lnTo>
                  <a:pt x="866445" y="0"/>
                </a:lnTo>
                <a:lnTo>
                  <a:pt x="866445" y="866445"/>
                </a:lnTo>
                <a:lnTo>
                  <a:pt x="0" y="866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46" name="Group 46"/>
          <p:cNvGrpSpPr/>
          <p:nvPr/>
        </p:nvGrpSpPr>
        <p:grpSpPr>
          <a:xfrm>
            <a:off x="0" y="0"/>
            <a:ext cx="12192000" cy="601374"/>
            <a:chOff x="0" y="0"/>
            <a:chExt cx="4816593" cy="2375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16592" cy="237580"/>
            </a:xfrm>
            <a:custGeom>
              <a:avLst/>
              <a:gdLst/>
              <a:ahLst/>
              <a:cxnLst/>
              <a:rect l="l" t="t" r="r" b="b"/>
              <a:pathLst>
                <a:path w="4816592" h="237580">
                  <a:moveTo>
                    <a:pt x="0" y="0"/>
                  </a:moveTo>
                  <a:lnTo>
                    <a:pt x="4816592" y="0"/>
                  </a:lnTo>
                  <a:lnTo>
                    <a:pt x="4816592" y="237580"/>
                  </a:lnTo>
                  <a:lnTo>
                    <a:pt x="0" y="237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816593" cy="2375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0556270" y="2688268"/>
            <a:ext cx="819961" cy="819961"/>
          </a:xfrm>
          <a:custGeom>
            <a:avLst/>
            <a:gdLst/>
            <a:ahLst/>
            <a:cxnLst/>
            <a:rect l="l" t="t" r="r" b="b"/>
            <a:pathLst>
              <a:path w="1229942" h="1229942">
                <a:moveTo>
                  <a:pt x="0" y="0"/>
                </a:moveTo>
                <a:lnTo>
                  <a:pt x="1229943" y="0"/>
                </a:lnTo>
                <a:lnTo>
                  <a:pt x="1229943" y="1229942"/>
                </a:lnTo>
                <a:lnTo>
                  <a:pt x="0" y="12299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0" name="TextBox 50"/>
          <p:cNvSpPr txBox="1"/>
          <p:nvPr/>
        </p:nvSpPr>
        <p:spPr>
          <a:xfrm>
            <a:off x="491486" y="145112"/>
            <a:ext cx="7088969" cy="2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Problem:</a:t>
            </a:r>
            <a:r>
              <a:rPr lang="en-US" sz="1999" b="1" i="1">
                <a:solidFill>
                  <a:srgbClr val="646562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 </a:t>
            </a:r>
            <a:r>
              <a:rPr lang="en-US" sz="1999" b="1" i="1">
                <a:solidFill>
                  <a:srgbClr val="E5E7EB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Sourcing is Trapped Between Risk and Inefficiency.</a:t>
            </a:r>
          </a:p>
        </p:txBody>
      </p:sp>
      <p:sp>
        <p:nvSpPr>
          <p:cNvPr id="51" name="Freeform 51"/>
          <p:cNvSpPr/>
          <p:nvPr/>
        </p:nvSpPr>
        <p:spPr>
          <a:xfrm flipH="1">
            <a:off x="11620549" y="76200"/>
            <a:ext cx="432719" cy="373712"/>
          </a:xfrm>
          <a:custGeom>
            <a:avLst/>
            <a:gdLst/>
            <a:ahLst/>
            <a:cxnLst/>
            <a:rect l="l" t="t" r="r" b="b"/>
            <a:pathLst>
              <a:path w="649079" h="560568">
                <a:moveTo>
                  <a:pt x="649079" y="0"/>
                </a:moveTo>
                <a:lnTo>
                  <a:pt x="0" y="0"/>
                </a:lnTo>
                <a:lnTo>
                  <a:pt x="0" y="560568"/>
                </a:lnTo>
                <a:lnTo>
                  <a:pt x="649079" y="560568"/>
                </a:lnTo>
                <a:lnTo>
                  <a:pt x="64907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38" y="1010359"/>
            <a:ext cx="10485120" cy="1097280"/>
            <a:chOff x="0" y="0"/>
            <a:chExt cx="2097024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70239" cy="2194560"/>
            </a:xfrm>
            <a:custGeom>
              <a:avLst/>
              <a:gdLst/>
              <a:ahLst/>
              <a:cxnLst/>
              <a:rect l="l" t="t" r="r" b="b"/>
              <a:pathLst>
                <a:path w="20970239" h="2194560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190" b="-136190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0970240" cy="2185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840"/>
                </a:lnSpc>
              </a:pPr>
              <a:r>
                <a:rPr lang="en-US" sz="3200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Better Raw Materials for Your Brand —</a:t>
              </a:r>
            </a:p>
            <a:p>
              <a:pPr>
                <a:lnSpc>
                  <a:spcPts val="3840"/>
                </a:lnSpc>
              </a:pPr>
              <a:r>
                <a:rPr lang="en-US" sz="3200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With the Proof to Switch.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3917" y="6292850"/>
            <a:ext cx="10485120" cy="426720"/>
            <a:chOff x="0" y="0"/>
            <a:chExt cx="2097024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70239" cy="853440"/>
            </a:xfrm>
            <a:custGeom>
              <a:avLst/>
              <a:gdLst/>
              <a:ahLst/>
              <a:cxnLst/>
              <a:rect l="l" t="t" r="r" b="b"/>
              <a:pathLst>
                <a:path w="20970239" h="853440">
                  <a:moveTo>
                    <a:pt x="0" y="0"/>
                  </a:moveTo>
                  <a:lnTo>
                    <a:pt x="20970239" y="0"/>
                  </a:lnTo>
                  <a:lnTo>
                    <a:pt x="20970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8775" b="-428775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970240" cy="8534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60"/>
                </a:lnSpc>
              </a:pPr>
              <a:r>
                <a:rPr lang="en-US" sz="1467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For </a:t>
              </a:r>
              <a:r>
                <a:rPr lang="en-US" sz="1467" b="1">
                  <a:solidFill>
                    <a:srgbClr val="1800AD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any material</a:t>
              </a:r>
              <a:r>
                <a:rPr lang="en-US" sz="1467">
                  <a:solidFill>
                    <a:srgbClr val="6B728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in your BOM, instantly see the best suppliers, compliance status, and substitution options.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87765" y="2563409"/>
            <a:ext cx="2987040" cy="331673"/>
            <a:chOff x="0" y="0"/>
            <a:chExt cx="5974080" cy="6633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74080" cy="663346"/>
            </a:xfrm>
            <a:custGeom>
              <a:avLst/>
              <a:gdLst/>
              <a:ahLst/>
              <a:cxnLst/>
              <a:rect l="l" t="t" r="r" b="b"/>
              <a:pathLst>
                <a:path w="5974080" h="663346">
                  <a:moveTo>
                    <a:pt x="0" y="0"/>
                  </a:moveTo>
                  <a:lnTo>
                    <a:pt x="5974080" y="0"/>
                  </a:lnTo>
                  <a:lnTo>
                    <a:pt x="5974080" y="663346"/>
                  </a:lnTo>
                  <a:lnTo>
                    <a:pt x="0" y="66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63" b="-14899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974080" cy="6633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See What’s Possible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71782" y="2782143"/>
            <a:ext cx="899950" cy="259187"/>
            <a:chOff x="0" y="0"/>
            <a:chExt cx="355536" cy="1023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536" cy="102395"/>
            </a:xfrm>
            <a:custGeom>
              <a:avLst/>
              <a:gdLst/>
              <a:ahLst/>
              <a:cxnLst/>
              <a:rect l="l" t="t" r="r" b="b"/>
              <a:pathLst>
                <a:path w="355536" h="102395">
                  <a:moveTo>
                    <a:pt x="0" y="0"/>
                  </a:moveTo>
                  <a:lnTo>
                    <a:pt x="355536" y="0"/>
                  </a:lnTo>
                  <a:lnTo>
                    <a:pt x="355536" y="102395"/>
                  </a:lnTo>
                  <a:lnTo>
                    <a:pt x="0" y="102395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355536" cy="10239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61350" y="2334278"/>
            <a:ext cx="3310081" cy="785503"/>
            <a:chOff x="0" y="0"/>
            <a:chExt cx="6948124" cy="16488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48124" cy="1648834"/>
            </a:xfrm>
            <a:custGeom>
              <a:avLst/>
              <a:gdLst/>
              <a:ahLst/>
              <a:cxnLst/>
              <a:rect l="l" t="t" r="r" b="b"/>
              <a:pathLst>
                <a:path w="6948124" h="1648834">
                  <a:moveTo>
                    <a:pt x="0" y="0"/>
                  </a:moveTo>
                  <a:lnTo>
                    <a:pt x="6948124" y="0"/>
                  </a:lnTo>
                  <a:lnTo>
                    <a:pt x="6948124" y="1648834"/>
                  </a:lnTo>
                  <a:lnTo>
                    <a:pt x="0" y="1648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58" r="-24039" b="-166195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6948124" cy="16488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59"/>
                </a:lnSpc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Ranked suppliers with confidence scores.</a:t>
              </a:r>
            </a:p>
            <a:p>
              <a:pPr>
                <a:lnSpc>
                  <a:spcPts val="1759"/>
                </a:lnSpc>
              </a:pPr>
              <a:r>
                <a:rPr lang="en-US" sz="1466" b="1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By Agnes</a:t>
              </a:r>
              <a:r>
                <a:rPr lang="en-US" sz="1466" b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.</a:t>
              </a:r>
              <a:r>
                <a:rPr lang="en-US" sz="1466" b="1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5885" y="3941947"/>
            <a:ext cx="2385696" cy="755953"/>
            <a:chOff x="0" y="0"/>
            <a:chExt cx="942497" cy="298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2497" cy="298648"/>
            </a:xfrm>
            <a:custGeom>
              <a:avLst/>
              <a:gdLst/>
              <a:ahLst/>
              <a:cxnLst/>
              <a:rect l="l" t="t" r="r" b="b"/>
              <a:pathLst>
                <a:path w="942497" h="298648">
                  <a:moveTo>
                    <a:pt x="32451" y="0"/>
                  </a:moveTo>
                  <a:lnTo>
                    <a:pt x="910046" y="0"/>
                  </a:lnTo>
                  <a:cubicBezTo>
                    <a:pt x="918652" y="0"/>
                    <a:pt x="926907" y="3419"/>
                    <a:pt x="932992" y="9505"/>
                  </a:cubicBezTo>
                  <a:cubicBezTo>
                    <a:pt x="939078" y="15591"/>
                    <a:pt x="942497" y="23845"/>
                    <a:pt x="942497" y="32451"/>
                  </a:cubicBezTo>
                  <a:lnTo>
                    <a:pt x="942497" y="266197"/>
                  </a:lnTo>
                  <a:cubicBezTo>
                    <a:pt x="942497" y="284119"/>
                    <a:pt x="927968" y="298648"/>
                    <a:pt x="910046" y="298648"/>
                  </a:cubicBezTo>
                  <a:lnTo>
                    <a:pt x="32451" y="298648"/>
                  </a:lnTo>
                  <a:cubicBezTo>
                    <a:pt x="14529" y="298648"/>
                    <a:pt x="0" y="284119"/>
                    <a:pt x="0" y="266197"/>
                  </a:cubicBezTo>
                  <a:lnTo>
                    <a:pt x="0" y="32451"/>
                  </a:lnTo>
                  <a:cubicBezTo>
                    <a:pt x="0" y="14529"/>
                    <a:pt x="14529" y="0"/>
                    <a:pt x="32451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942497" cy="2986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5748" y="4129030"/>
            <a:ext cx="2987040" cy="331673"/>
            <a:chOff x="0" y="0"/>
            <a:chExt cx="5974080" cy="6633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74080" cy="663346"/>
            </a:xfrm>
            <a:custGeom>
              <a:avLst/>
              <a:gdLst/>
              <a:ahLst/>
              <a:cxnLst/>
              <a:rect l="l" t="t" r="r" b="b"/>
              <a:pathLst>
                <a:path w="5974080" h="663346">
                  <a:moveTo>
                    <a:pt x="0" y="0"/>
                  </a:moveTo>
                  <a:lnTo>
                    <a:pt x="5974080" y="0"/>
                  </a:lnTo>
                  <a:lnTo>
                    <a:pt x="5974080" y="663346"/>
                  </a:lnTo>
                  <a:lnTo>
                    <a:pt x="0" y="663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963" b="-14899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974080" cy="6633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Tune to Your Priorities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03289" y="3426784"/>
            <a:ext cx="2987040" cy="1400060"/>
            <a:chOff x="0" y="0"/>
            <a:chExt cx="5974080" cy="2800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74080" cy="2800120"/>
            </a:xfrm>
            <a:custGeom>
              <a:avLst/>
              <a:gdLst/>
              <a:ahLst/>
              <a:cxnLst/>
              <a:rect l="l" t="t" r="r" b="b"/>
              <a:pathLst>
                <a:path w="5974080" h="2800120">
                  <a:moveTo>
                    <a:pt x="0" y="0"/>
                  </a:moveTo>
                  <a:lnTo>
                    <a:pt x="5974080" y="0"/>
                  </a:lnTo>
                  <a:lnTo>
                    <a:pt x="5974080" y="2800120"/>
                  </a:lnTo>
                  <a:lnTo>
                    <a:pt x="0" y="2800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263" r="-44263" b="-56747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974080" cy="2800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Cost </a:t>
              </a:r>
            </a:p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Regulatory Compliance</a:t>
              </a:r>
            </a:p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Certification Fit</a:t>
              </a:r>
            </a:p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Supply Risk</a:t>
              </a:r>
            </a:p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Functional Fit.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88111" y="5498393"/>
            <a:ext cx="1822314" cy="487680"/>
            <a:chOff x="0" y="0"/>
            <a:chExt cx="3644628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44628" cy="975360"/>
            </a:xfrm>
            <a:custGeom>
              <a:avLst/>
              <a:gdLst/>
              <a:ahLst/>
              <a:cxnLst/>
              <a:rect l="l" t="t" r="r" b="b"/>
              <a:pathLst>
                <a:path w="3644628" h="975360">
                  <a:moveTo>
                    <a:pt x="0" y="0"/>
                  </a:moveTo>
                  <a:lnTo>
                    <a:pt x="3644628" y="0"/>
                  </a:lnTo>
                  <a:lnTo>
                    <a:pt x="36446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345" r="-63914" b="-69345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3644628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Ask, Don’t Search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061350" y="5433240"/>
            <a:ext cx="2595613" cy="550617"/>
            <a:chOff x="0" y="0"/>
            <a:chExt cx="7422853" cy="157463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22852" cy="1574637"/>
            </a:xfrm>
            <a:custGeom>
              <a:avLst/>
              <a:gdLst/>
              <a:ahLst/>
              <a:cxnLst/>
              <a:rect l="l" t="t" r="r" b="b"/>
              <a:pathLst>
                <a:path w="7422852" h="1574637">
                  <a:moveTo>
                    <a:pt x="0" y="0"/>
                  </a:moveTo>
                  <a:lnTo>
                    <a:pt x="7422852" y="0"/>
                  </a:lnTo>
                  <a:lnTo>
                    <a:pt x="7422852" y="1574637"/>
                  </a:lnTo>
                  <a:lnTo>
                    <a:pt x="0" y="1574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624" r="-16106" b="-17873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7422853" cy="1574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59"/>
                </a:lnSpc>
              </a:pPr>
              <a:r>
                <a:rPr lang="en-US" sz="1466">
                  <a:solidFill>
                    <a:srgbClr val="000000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Reasoned solutions with a simple </a:t>
              </a:r>
              <a:r>
                <a:rPr lang="en-US" sz="1466" b="1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voice command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0"/>
            <a:ext cx="12192000" cy="601374"/>
            <a:chOff x="0" y="0"/>
            <a:chExt cx="4816593" cy="2375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816592" cy="237580"/>
            </a:xfrm>
            <a:custGeom>
              <a:avLst/>
              <a:gdLst/>
              <a:ahLst/>
              <a:cxnLst/>
              <a:rect l="l" t="t" r="r" b="b"/>
              <a:pathLst>
                <a:path w="4816592" h="237580">
                  <a:moveTo>
                    <a:pt x="0" y="0"/>
                  </a:moveTo>
                  <a:lnTo>
                    <a:pt x="4816592" y="0"/>
                  </a:lnTo>
                  <a:lnTo>
                    <a:pt x="4816592" y="237580"/>
                  </a:lnTo>
                  <a:lnTo>
                    <a:pt x="0" y="237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816593" cy="2375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95885" y="2385501"/>
            <a:ext cx="2385696" cy="755953"/>
            <a:chOff x="0" y="0"/>
            <a:chExt cx="942497" cy="2986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42497" cy="298648"/>
            </a:xfrm>
            <a:custGeom>
              <a:avLst/>
              <a:gdLst/>
              <a:ahLst/>
              <a:cxnLst/>
              <a:rect l="l" t="t" r="r" b="b"/>
              <a:pathLst>
                <a:path w="942497" h="298648">
                  <a:moveTo>
                    <a:pt x="32451" y="0"/>
                  </a:moveTo>
                  <a:lnTo>
                    <a:pt x="910046" y="0"/>
                  </a:lnTo>
                  <a:cubicBezTo>
                    <a:pt x="918652" y="0"/>
                    <a:pt x="926907" y="3419"/>
                    <a:pt x="932992" y="9505"/>
                  </a:cubicBezTo>
                  <a:cubicBezTo>
                    <a:pt x="939078" y="15591"/>
                    <a:pt x="942497" y="23845"/>
                    <a:pt x="942497" y="32451"/>
                  </a:cubicBezTo>
                  <a:lnTo>
                    <a:pt x="942497" y="266197"/>
                  </a:lnTo>
                  <a:cubicBezTo>
                    <a:pt x="942497" y="284119"/>
                    <a:pt x="927968" y="298648"/>
                    <a:pt x="910046" y="298648"/>
                  </a:cubicBezTo>
                  <a:lnTo>
                    <a:pt x="32451" y="298648"/>
                  </a:lnTo>
                  <a:cubicBezTo>
                    <a:pt x="14529" y="298648"/>
                    <a:pt x="0" y="284119"/>
                    <a:pt x="0" y="266197"/>
                  </a:cubicBezTo>
                  <a:lnTo>
                    <a:pt x="0" y="32451"/>
                  </a:lnTo>
                  <a:cubicBezTo>
                    <a:pt x="0" y="14529"/>
                    <a:pt x="14529" y="0"/>
                    <a:pt x="32451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942497" cy="2986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95885" y="5364257"/>
            <a:ext cx="2385696" cy="755953"/>
            <a:chOff x="0" y="0"/>
            <a:chExt cx="942497" cy="2986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42497" cy="298648"/>
            </a:xfrm>
            <a:custGeom>
              <a:avLst/>
              <a:gdLst/>
              <a:ahLst/>
              <a:cxnLst/>
              <a:rect l="l" t="t" r="r" b="b"/>
              <a:pathLst>
                <a:path w="942497" h="298648">
                  <a:moveTo>
                    <a:pt x="32451" y="0"/>
                  </a:moveTo>
                  <a:lnTo>
                    <a:pt x="910046" y="0"/>
                  </a:lnTo>
                  <a:cubicBezTo>
                    <a:pt x="918652" y="0"/>
                    <a:pt x="926907" y="3419"/>
                    <a:pt x="932992" y="9505"/>
                  </a:cubicBezTo>
                  <a:cubicBezTo>
                    <a:pt x="939078" y="15591"/>
                    <a:pt x="942497" y="23845"/>
                    <a:pt x="942497" y="32451"/>
                  </a:cubicBezTo>
                  <a:lnTo>
                    <a:pt x="942497" y="266197"/>
                  </a:lnTo>
                  <a:cubicBezTo>
                    <a:pt x="942497" y="284119"/>
                    <a:pt x="927968" y="298648"/>
                    <a:pt x="910046" y="298648"/>
                  </a:cubicBezTo>
                  <a:lnTo>
                    <a:pt x="32451" y="298648"/>
                  </a:lnTo>
                  <a:cubicBezTo>
                    <a:pt x="14529" y="298648"/>
                    <a:pt x="0" y="284119"/>
                    <a:pt x="0" y="266197"/>
                  </a:cubicBezTo>
                  <a:lnTo>
                    <a:pt x="0" y="32451"/>
                  </a:lnTo>
                  <a:cubicBezTo>
                    <a:pt x="0" y="14529"/>
                    <a:pt x="14529" y="0"/>
                    <a:pt x="32451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942497" cy="2986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sp>
        <p:nvSpPr>
          <p:cNvPr id="41" name="AutoShape 41"/>
          <p:cNvSpPr/>
          <p:nvPr/>
        </p:nvSpPr>
        <p:spPr>
          <a:xfrm>
            <a:off x="2588733" y="3141454"/>
            <a:ext cx="0" cy="800493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AutoShape 42"/>
          <p:cNvSpPr/>
          <p:nvPr/>
        </p:nvSpPr>
        <p:spPr>
          <a:xfrm>
            <a:off x="2588733" y="4697900"/>
            <a:ext cx="0" cy="666357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Freeform 43"/>
          <p:cNvSpPr/>
          <p:nvPr/>
        </p:nvSpPr>
        <p:spPr>
          <a:xfrm>
            <a:off x="9593139" y="2291789"/>
            <a:ext cx="1183812" cy="874913"/>
          </a:xfrm>
          <a:custGeom>
            <a:avLst/>
            <a:gdLst/>
            <a:ahLst/>
            <a:cxnLst/>
            <a:rect l="l" t="t" r="r" b="b"/>
            <a:pathLst>
              <a:path w="1775718" h="1312369">
                <a:moveTo>
                  <a:pt x="0" y="0"/>
                </a:moveTo>
                <a:lnTo>
                  <a:pt x="1775719" y="0"/>
                </a:lnTo>
                <a:lnTo>
                  <a:pt x="1775719" y="1312369"/>
                </a:lnTo>
                <a:lnTo>
                  <a:pt x="0" y="1312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4" name="Freeform 44"/>
          <p:cNvSpPr/>
          <p:nvPr/>
        </p:nvSpPr>
        <p:spPr>
          <a:xfrm>
            <a:off x="9630804" y="3670922"/>
            <a:ext cx="1108482" cy="1011742"/>
          </a:xfrm>
          <a:custGeom>
            <a:avLst/>
            <a:gdLst/>
            <a:ahLst/>
            <a:cxnLst/>
            <a:rect l="l" t="t" r="r" b="b"/>
            <a:pathLst>
              <a:path w="1662723" h="1517613">
                <a:moveTo>
                  <a:pt x="0" y="0"/>
                </a:moveTo>
                <a:lnTo>
                  <a:pt x="1662723" y="0"/>
                </a:lnTo>
                <a:lnTo>
                  <a:pt x="1662723" y="1517612"/>
                </a:lnTo>
                <a:lnTo>
                  <a:pt x="0" y="1517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5" name="Freeform 45"/>
          <p:cNvSpPr/>
          <p:nvPr/>
        </p:nvSpPr>
        <p:spPr>
          <a:xfrm>
            <a:off x="9841411" y="5186884"/>
            <a:ext cx="687267" cy="933325"/>
          </a:xfrm>
          <a:custGeom>
            <a:avLst/>
            <a:gdLst/>
            <a:ahLst/>
            <a:cxnLst/>
            <a:rect l="l" t="t" r="r" b="b"/>
            <a:pathLst>
              <a:path w="1030900" h="1399988">
                <a:moveTo>
                  <a:pt x="0" y="0"/>
                </a:moveTo>
                <a:lnTo>
                  <a:pt x="1030901" y="0"/>
                </a:lnTo>
                <a:lnTo>
                  <a:pt x="1030901" y="1399988"/>
                </a:lnTo>
                <a:lnTo>
                  <a:pt x="0" y="13999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6" name="TextBox 46"/>
          <p:cNvSpPr txBox="1"/>
          <p:nvPr/>
        </p:nvSpPr>
        <p:spPr>
          <a:xfrm>
            <a:off x="548921" y="145112"/>
            <a:ext cx="6084779" cy="298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9"/>
              </a:lnSpc>
              <a:spcBef>
                <a:spcPct val="0"/>
              </a:spcBef>
            </a:pPr>
            <a:r>
              <a:rPr lang="en-US" sz="1999" b="1" i="1">
                <a:solidFill>
                  <a:srgbClr val="FFFFFF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Our solution:</a:t>
            </a:r>
            <a:r>
              <a:rPr lang="en-US" sz="1999" b="1" i="1">
                <a:solidFill>
                  <a:srgbClr val="E5E7EB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 material options, curated for You.</a:t>
            </a:r>
          </a:p>
        </p:txBody>
      </p:sp>
      <p:sp>
        <p:nvSpPr>
          <p:cNvPr id="47" name="Freeform 47"/>
          <p:cNvSpPr/>
          <p:nvPr/>
        </p:nvSpPr>
        <p:spPr>
          <a:xfrm flipH="1">
            <a:off x="11620549" y="76200"/>
            <a:ext cx="432719" cy="373712"/>
          </a:xfrm>
          <a:custGeom>
            <a:avLst/>
            <a:gdLst/>
            <a:ahLst/>
            <a:cxnLst/>
            <a:rect l="l" t="t" r="r" b="b"/>
            <a:pathLst>
              <a:path w="649079" h="560568">
                <a:moveTo>
                  <a:pt x="649079" y="0"/>
                </a:moveTo>
                <a:lnTo>
                  <a:pt x="0" y="0"/>
                </a:lnTo>
                <a:lnTo>
                  <a:pt x="0" y="560568"/>
                </a:lnTo>
                <a:lnTo>
                  <a:pt x="649079" y="560568"/>
                </a:lnTo>
                <a:lnTo>
                  <a:pt x="64907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882EF3-8672-29B4-D7D7-D17BB193EB0C}"/>
              </a:ext>
            </a:extLst>
          </p:cNvPr>
          <p:cNvSpPr/>
          <p:nvPr/>
        </p:nvSpPr>
        <p:spPr>
          <a:xfrm>
            <a:off x="3199615" y="3059205"/>
            <a:ext cx="5792769" cy="73958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 err="1"/>
              <a:t>supplywiseai.vercel.app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038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5" presetClass="emph" presetSubtype="0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C3045EF-8951-880A-AFDF-06F90F5C4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41" y="269692"/>
            <a:ext cx="8861611" cy="63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10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0EC2DDF-ED73-CF9C-ADA6-BF953BC7A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004" y="0"/>
            <a:ext cx="12955620" cy="720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09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9CD6-7D23-EC21-3033-2773D0033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3FDF2FED-760C-72CE-EBC8-6826BE417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77" y="468778"/>
            <a:ext cx="9184478" cy="57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8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A1F9-E297-5837-438F-6652EE8B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1572F9A3-D092-2689-D389-2F06FA1C5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17" y="564777"/>
            <a:ext cx="998269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0712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78DC-F81F-486C-0B03-1CA533109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FB06C3EC-CBFC-BBA0-AE61-AA975426B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99" y="255494"/>
            <a:ext cx="9727434" cy="619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8320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3FFE-BB9C-25DF-3389-0FFFEDC2D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E783F07-87C7-4084-9FDF-B6CD2972F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18" y="401923"/>
            <a:ext cx="9434235" cy="620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1095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usic tab&#10;&#10;Description automatically generated">
            <a:extLst>
              <a:ext uri="{FF2B5EF4-FFF2-40B4-BE49-F238E27FC236}">
                <a16:creationId xmlns:a16="http://schemas.microsoft.com/office/drawing/2014/main" id="{D0D97FEC-505D-0CE2-E7B8-D45270665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303" y="1401108"/>
            <a:ext cx="9683484" cy="405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4080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9D89-1CA6-1E76-2B7D-EACF670A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4921E38-6A93-E0F0-7643-3CD3FE5C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70" y="911785"/>
            <a:ext cx="9358259" cy="50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9296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823505"/>
            <a:ext cx="10485120" cy="877451"/>
            <a:chOff x="0" y="0"/>
            <a:chExt cx="20970240" cy="17549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970239" cy="1754903"/>
            </a:xfrm>
            <a:custGeom>
              <a:avLst/>
              <a:gdLst/>
              <a:ahLst/>
              <a:cxnLst/>
              <a:rect l="l" t="t" r="r" b="b"/>
              <a:pathLst>
                <a:path w="20970239" h="1754903">
                  <a:moveTo>
                    <a:pt x="0" y="0"/>
                  </a:moveTo>
                  <a:lnTo>
                    <a:pt x="20970239" y="0"/>
                  </a:lnTo>
                  <a:lnTo>
                    <a:pt x="20970239" y="1754903"/>
                  </a:lnTo>
                  <a:lnTo>
                    <a:pt x="0" y="17549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152" b="-174521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970240" cy="17549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20"/>
                </a:lnSpc>
                <a:spcBef>
                  <a:spcPct val="0"/>
                </a:spcBef>
              </a:pPr>
              <a:r>
                <a:rPr lang="en-US" sz="4266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We Make Money When You Save Money.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8240" y="2001095"/>
            <a:ext cx="4693920" cy="365760"/>
            <a:chOff x="0" y="0"/>
            <a:chExt cx="9387840" cy="731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87840" cy="731520"/>
            </a:xfrm>
            <a:custGeom>
              <a:avLst/>
              <a:gdLst/>
              <a:ahLst/>
              <a:cxnLst/>
              <a:rect l="l" t="t" r="r" b="b"/>
              <a:pathLst>
                <a:path w="9387840" h="73152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387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Free Tier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8240" y="2391239"/>
            <a:ext cx="4693920" cy="598017"/>
            <a:chOff x="0" y="0"/>
            <a:chExt cx="9387840" cy="11960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87840" cy="1196035"/>
            </a:xfrm>
            <a:custGeom>
              <a:avLst/>
              <a:gdLst/>
              <a:ahLst/>
              <a:cxnLst/>
              <a:rect l="l" t="t" r="r" b="b"/>
              <a:pathLst>
                <a:path w="9387840" h="1196035">
                  <a:moveTo>
                    <a:pt x="0" y="0"/>
                  </a:moveTo>
                  <a:lnTo>
                    <a:pt x="9387840" y="0"/>
                  </a:lnTo>
                  <a:lnTo>
                    <a:pt x="9387840" y="1196035"/>
                  </a:lnTo>
                  <a:lnTo>
                    <a:pt x="0" y="1196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069" b="-98812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9387840" cy="1196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800A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Start in minutes, not months.</a:t>
              </a:r>
            </a:p>
            <a:p>
              <a:pPr>
                <a:lnSpc>
                  <a:spcPts val="1440"/>
                </a:lnSpc>
              </a:pPr>
              <a:r>
                <a:rPr lang="en-US" sz="1200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Browse suppliers, explore BOMs, run basic analyses. No commitment required.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8240" y="3495672"/>
            <a:ext cx="4693920" cy="365760"/>
            <a:chOff x="0" y="0"/>
            <a:chExt cx="938784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87840" cy="731520"/>
            </a:xfrm>
            <a:custGeom>
              <a:avLst/>
              <a:gdLst/>
              <a:ahLst/>
              <a:cxnLst/>
              <a:rect l="l" t="t" r="r" b="b"/>
              <a:pathLst>
                <a:path w="9387840" h="73152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9387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Paid Deep Analysis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58240" y="3885816"/>
            <a:ext cx="4693920" cy="598017"/>
            <a:chOff x="0" y="0"/>
            <a:chExt cx="9387840" cy="11960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87840" cy="1196035"/>
            </a:xfrm>
            <a:custGeom>
              <a:avLst/>
              <a:gdLst/>
              <a:ahLst/>
              <a:cxnLst/>
              <a:rect l="l" t="t" r="r" b="b"/>
              <a:pathLst>
                <a:path w="9387840" h="1196035">
                  <a:moveTo>
                    <a:pt x="0" y="0"/>
                  </a:moveTo>
                  <a:lnTo>
                    <a:pt x="9387840" y="0"/>
                  </a:lnTo>
                  <a:lnTo>
                    <a:pt x="9387840" y="1196035"/>
                  </a:lnTo>
                  <a:lnTo>
                    <a:pt x="0" y="1196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069" b="-98812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9387840" cy="1196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800A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Go deep when it matters.</a:t>
              </a:r>
            </a:p>
            <a:p>
              <a:pPr>
                <a:lnSpc>
                  <a:spcPts val="1440"/>
                </a:lnSpc>
              </a:pPr>
              <a:r>
                <a:rPr lang="en-US" sz="1200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Full compliance profiles, 3-tier substitution, and evidence trails — per search or subscription.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58240" y="4990249"/>
            <a:ext cx="4693920" cy="365760"/>
            <a:chOff x="0" y="0"/>
            <a:chExt cx="93878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87840" cy="731520"/>
            </a:xfrm>
            <a:custGeom>
              <a:avLst/>
              <a:gdLst/>
              <a:ahLst/>
              <a:cxnLst/>
              <a:rect l="l" t="t" r="r" b="b"/>
              <a:pathLst>
                <a:path w="9387840" h="73152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938784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600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Supplier Commission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58240" y="5380394"/>
            <a:ext cx="4693920" cy="598017"/>
            <a:chOff x="0" y="0"/>
            <a:chExt cx="9387840" cy="11960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87840" cy="1196035"/>
            </a:xfrm>
            <a:custGeom>
              <a:avLst/>
              <a:gdLst/>
              <a:ahLst/>
              <a:cxnLst/>
              <a:rect l="l" t="t" r="r" b="b"/>
              <a:pathLst>
                <a:path w="9387840" h="1196035">
                  <a:moveTo>
                    <a:pt x="0" y="0"/>
                  </a:moveTo>
                  <a:lnTo>
                    <a:pt x="9387840" y="0"/>
                  </a:lnTo>
                  <a:lnTo>
                    <a:pt x="9387840" y="1196035"/>
                  </a:lnTo>
                  <a:lnTo>
                    <a:pt x="0" y="1196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069" b="-98812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9387840" cy="1196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800AD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We only win when you do.</a:t>
              </a:r>
            </a:p>
            <a:p>
              <a:pPr>
                <a:lnSpc>
                  <a:spcPts val="1440"/>
                </a:lnSpc>
              </a:pPr>
              <a:r>
                <a:rPr lang="en-US" sz="1200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When you buy from a recommended supplier, we earn a referral. No savings, no fee.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1760" y="2001095"/>
            <a:ext cx="5242560" cy="4171105"/>
            <a:chOff x="0" y="0"/>
            <a:chExt cx="2071135" cy="16478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1135" cy="1647844"/>
            </a:xfrm>
            <a:custGeom>
              <a:avLst/>
              <a:gdLst/>
              <a:ahLst/>
              <a:cxnLst/>
              <a:rect l="l" t="t" r="r" b="b"/>
              <a:pathLst>
                <a:path w="2071135" h="1647844">
                  <a:moveTo>
                    <a:pt x="14767" y="0"/>
                  </a:moveTo>
                  <a:lnTo>
                    <a:pt x="2056367" y="0"/>
                  </a:lnTo>
                  <a:cubicBezTo>
                    <a:pt x="2064523" y="0"/>
                    <a:pt x="2071135" y="6612"/>
                    <a:pt x="2071135" y="14767"/>
                  </a:cubicBezTo>
                  <a:lnTo>
                    <a:pt x="2071135" y="1633077"/>
                  </a:lnTo>
                  <a:cubicBezTo>
                    <a:pt x="2071135" y="1641233"/>
                    <a:pt x="2064523" y="1647844"/>
                    <a:pt x="2056367" y="1647844"/>
                  </a:cubicBezTo>
                  <a:lnTo>
                    <a:pt x="14767" y="1647844"/>
                  </a:lnTo>
                  <a:cubicBezTo>
                    <a:pt x="6612" y="1647844"/>
                    <a:pt x="0" y="1641233"/>
                    <a:pt x="0" y="1633077"/>
                  </a:cubicBezTo>
                  <a:lnTo>
                    <a:pt x="0" y="14767"/>
                  </a:lnTo>
                  <a:cubicBezTo>
                    <a:pt x="0" y="6612"/>
                    <a:pt x="6612" y="0"/>
                    <a:pt x="14767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071135" cy="16478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0" y="2059389"/>
            <a:ext cx="4632960" cy="420774"/>
            <a:chOff x="0" y="0"/>
            <a:chExt cx="9265920" cy="8415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265920" cy="841548"/>
            </a:xfrm>
            <a:custGeom>
              <a:avLst/>
              <a:gdLst/>
              <a:ahLst/>
              <a:cxnLst/>
              <a:rect l="l" t="t" r="r" b="b"/>
              <a:pathLst>
                <a:path w="9265920" h="841548">
                  <a:moveTo>
                    <a:pt x="0" y="0"/>
                  </a:moveTo>
                  <a:lnTo>
                    <a:pt x="9265920" y="0"/>
                  </a:lnTo>
                  <a:lnTo>
                    <a:pt x="9265920" y="841548"/>
                  </a:lnTo>
                  <a:lnTo>
                    <a:pt x="0" y="841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834" b="-165247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9265920" cy="841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080"/>
                </a:lnSpc>
              </a:pPr>
              <a:r>
                <a:rPr lang="en-US" sz="1733" b="1">
                  <a:solidFill>
                    <a:srgbClr val="11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Why This Is Real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05600" y="3502043"/>
            <a:ext cx="4754880" cy="721327"/>
            <a:chOff x="0" y="0"/>
            <a:chExt cx="9509760" cy="14426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09760" cy="1442654"/>
            </a:xfrm>
            <a:custGeom>
              <a:avLst/>
              <a:gdLst/>
              <a:ahLst/>
              <a:cxnLst/>
              <a:rect l="l" t="t" r="r" b="b"/>
              <a:pathLst>
                <a:path w="9509760" h="1442654">
                  <a:moveTo>
                    <a:pt x="0" y="0"/>
                  </a:moveTo>
                  <a:lnTo>
                    <a:pt x="9509760" y="0"/>
                  </a:lnTo>
                  <a:lnTo>
                    <a:pt x="9509760" y="1442654"/>
                  </a:lnTo>
                  <a:lnTo>
                    <a:pt x="0" y="1442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914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9509760" cy="144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Agnes runs forecasting &amp; inventory. We add the missing layer: raw material intelligence.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05600" y="4343591"/>
            <a:ext cx="4754880" cy="721327"/>
            <a:chOff x="0" y="0"/>
            <a:chExt cx="9509760" cy="144265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509760" cy="1442654"/>
            </a:xfrm>
            <a:custGeom>
              <a:avLst/>
              <a:gdLst/>
              <a:ahLst/>
              <a:cxnLst/>
              <a:rect l="l" t="t" r="r" b="b"/>
              <a:pathLst>
                <a:path w="9509760" h="1442654">
                  <a:moveTo>
                    <a:pt x="0" y="0"/>
                  </a:moveTo>
                  <a:lnTo>
                    <a:pt x="9509760" y="0"/>
                  </a:lnTo>
                  <a:lnTo>
                    <a:pt x="9509760" y="1442654"/>
                  </a:lnTo>
                  <a:lnTo>
                    <a:pt x="0" y="1442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914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9509760" cy="144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668" lvl="1" indent="-158335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Our data compounds with every decision. That moat can't be copied overnight.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05600" y="5185139"/>
            <a:ext cx="4754880" cy="721327"/>
            <a:chOff x="0" y="0"/>
            <a:chExt cx="9509760" cy="144265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509760" cy="1442654"/>
            </a:xfrm>
            <a:custGeom>
              <a:avLst/>
              <a:gdLst/>
              <a:ahLst/>
              <a:cxnLst/>
              <a:rect l="l" t="t" r="r" b="b"/>
              <a:pathLst>
                <a:path w="9509760" h="1442654">
                  <a:moveTo>
                    <a:pt x="0" y="0"/>
                  </a:moveTo>
                  <a:lnTo>
                    <a:pt x="9509760" y="0"/>
                  </a:lnTo>
                  <a:lnTo>
                    <a:pt x="9509760" y="1442654"/>
                  </a:lnTo>
                  <a:lnTo>
                    <a:pt x="0" y="1442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914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9509760" cy="144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6668" lvl="1" indent="-158334">
                <a:lnSpc>
                  <a:spcPts val="1759"/>
                </a:lnSpc>
                <a:buFont typeface="Arial"/>
                <a:buChar char="•"/>
              </a:pPr>
              <a:r>
                <a:rPr lang="en-US" sz="1466">
                  <a:solidFill>
                    <a:srgbClr val="6B728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Commission-only model. Pure alignment, we earn when you save.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6217920"/>
            <a:ext cx="10972800" cy="487680"/>
            <a:chOff x="0" y="0"/>
            <a:chExt cx="21945600" cy="975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9FAFB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3440" y="6217920"/>
            <a:ext cx="10485120" cy="487680"/>
            <a:chOff x="0" y="0"/>
            <a:chExt cx="20970240" cy="9753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970239" cy="975360"/>
            </a:xfrm>
            <a:custGeom>
              <a:avLst/>
              <a:gdLst/>
              <a:ahLst/>
              <a:cxnLst/>
              <a:rect l="l" t="t" r="r" b="b"/>
              <a:pathLst>
                <a:path w="20970239" h="975360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8928" b="-36892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2097024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1333" i="1">
                  <a:solidFill>
                    <a:srgbClr val="3B82F6"/>
                  </a:solidFill>
                  <a:latin typeface="Source Sans 3 Italics"/>
                  <a:ea typeface="Source Sans 3 Italics"/>
                  <a:cs typeface="Source Sans 3 Italics"/>
                  <a:sym typeface="Source Sans 3 Italics"/>
                </a:rPr>
                <a:t>Agnes already manages forecasting and inventory. SupplyWise gives her the one thing she was missing — raw material superpowers.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0"/>
            <a:ext cx="12192000" cy="601374"/>
            <a:chOff x="0" y="0"/>
            <a:chExt cx="4816593" cy="2375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16592" cy="237580"/>
            </a:xfrm>
            <a:custGeom>
              <a:avLst/>
              <a:gdLst/>
              <a:ahLst/>
              <a:cxnLst/>
              <a:rect l="l" t="t" r="r" b="b"/>
              <a:pathLst>
                <a:path w="4816592" h="237580">
                  <a:moveTo>
                    <a:pt x="0" y="0"/>
                  </a:moveTo>
                  <a:lnTo>
                    <a:pt x="4816592" y="0"/>
                  </a:lnTo>
                  <a:lnTo>
                    <a:pt x="4816592" y="237580"/>
                  </a:lnTo>
                  <a:lnTo>
                    <a:pt x="0" y="2375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4816593" cy="2375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1208858" y="55675"/>
            <a:ext cx="9052599" cy="469379"/>
            <a:chOff x="0" y="0"/>
            <a:chExt cx="18105198" cy="93875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105197" cy="938758"/>
            </a:xfrm>
            <a:custGeom>
              <a:avLst/>
              <a:gdLst/>
              <a:ahLst/>
              <a:cxnLst/>
              <a:rect l="l" t="t" r="r" b="b"/>
              <a:pathLst>
                <a:path w="18105197" h="938758">
                  <a:moveTo>
                    <a:pt x="0" y="0"/>
                  </a:moveTo>
                  <a:lnTo>
                    <a:pt x="18105197" y="0"/>
                  </a:lnTo>
                  <a:lnTo>
                    <a:pt x="18105197" y="938758"/>
                  </a:lnTo>
                  <a:lnTo>
                    <a:pt x="0" y="9387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485" r="46128" b="-14140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18105198" cy="9482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sz="1999" b="1" i="1">
                  <a:solidFill>
                    <a:srgbClr val="FFFFFF"/>
                  </a:solidFill>
                  <a:latin typeface="HK Grotesk Bold Italics"/>
                  <a:ea typeface="HK Grotesk Bold Italics"/>
                  <a:cs typeface="HK Grotesk Bold Italics"/>
                  <a:sym typeface="HK Grotesk Bold Italics"/>
                </a:rPr>
                <a:t>Business Model: </a:t>
              </a:r>
              <a:r>
                <a:rPr lang="en-US" sz="1999" b="1" i="1">
                  <a:solidFill>
                    <a:srgbClr val="E5E7EB"/>
                  </a:solidFill>
                  <a:latin typeface="HK Grotesk Bold Italics"/>
                  <a:ea typeface="HK Grotesk Bold Italics"/>
                  <a:cs typeface="HK Grotesk Bold Italics"/>
                  <a:sym typeface="HK Grotesk Bold Italics"/>
                </a:rPr>
                <a:t>You Only Pay When It Pays Off.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3440" y="2001095"/>
            <a:ext cx="5242560" cy="1140359"/>
            <a:chOff x="0" y="0"/>
            <a:chExt cx="2071135" cy="45051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71135" cy="450512"/>
            </a:xfrm>
            <a:custGeom>
              <a:avLst/>
              <a:gdLst/>
              <a:ahLst/>
              <a:cxnLst/>
              <a:rect l="l" t="t" r="r" b="b"/>
              <a:pathLst>
                <a:path w="2071135" h="450512">
                  <a:moveTo>
                    <a:pt x="14767" y="0"/>
                  </a:moveTo>
                  <a:lnTo>
                    <a:pt x="2056367" y="0"/>
                  </a:lnTo>
                  <a:cubicBezTo>
                    <a:pt x="2064523" y="0"/>
                    <a:pt x="2071135" y="6612"/>
                    <a:pt x="2071135" y="14767"/>
                  </a:cubicBezTo>
                  <a:lnTo>
                    <a:pt x="2071135" y="435745"/>
                  </a:lnTo>
                  <a:cubicBezTo>
                    <a:pt x="2071135" y="443901"/>
                    <a:pt x="2064523" y="450512"/>
                    <a:pt x="2056367" y="450512"/>
                  </a:cubicBezTo>
                  <a:lnTo>
                    <a:pt x="14767" y="450512"/>
                  </a:lnTo>
                  <a:cubicBezTo>
                    <a:pt x="6612" y="450512"/>
                    <a:pt x="0" y="443901"/>
                    <a:pt x="0" y="435745"/>
                  </a:cubicBezTo>
                  <a:lnTo>
                    <a:pt x="0" y="14767"/>
                  </a:lnTo>
                  <a:cubicBezTo>
                    <a:pt x="0" y="6612"/>
                    <a:pt x="6612" y="0"/>
                    <a:pt x="14767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071135" cy="45051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44976" y="3458954"/>
            <a:ext cx="5251025" cy="1159611"/>
            <a:chOff x="0" y="0"/>
            <a:chExt cx="2074479" cy="45811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74479" cy="458118"/>
            </a:xfrm>
            <a:custGeom>
              <a:avLst/>
              <a:gdLst/>
              <a:ahLst/>
              <a:cxnLst/>
              <a:rect l="l" t="t" r="r" b="b"/>
              <a:pathLst>
                <a:path w="2074479" h="458118">
                  <a:moveTo>
                    <a:pt x="14744" y="0"/>
                  </a:moveTo>
                  <a:lnTo>
                    <a:pt x="2059735" y="0"/>
                  </a:lnTo>
                  <a:cubicBezTo>
                    <a:pt x="2063645" y="0"/>
                    <a:pt x="2067396" y="1553"/>
                    <a:pt x="2070160" y="4318"/>
                  </a:cubicBezTo>
                  <a:cubicBezTo>
                    <a:pt x="2072925" y="7083"/>
                    <a:pt x="2074479" y="10833"/>
                    <a:pt x="2074479" y="14744"/>
                  </a:cubicBezTo>
                  <a:lnTo>
                    <a:pt x="2074479" y="443374"/>
                  </a:lnTo>
                  <a:cubicBezTo>
                    <a:pt x="2074479" y="451517"/>
                    <a:pt x="2067878" y="458118"/>
                    <a:pt x="2059735" y="458118"/>
                  </a:cubicBezTo>
                  <a:lnTo>
                    <a:pt x="14744" y="458118"/>
                  </a:lnTo>
                  <a:cubicBezTo>
                    <a:pt x="10833" y="458118"/>
                    <a:pt x="7083" y="456565"/>
                    <a:pt x="4318" y="453800"/>
                  </a:cubicBezTo>
                  <a:cubicBezTo>
                    <a:pt x="1553" y="451035"/>
                    <a:pt x="0" y="447285"/>
                    <a:pt x="0" y="443374"/>
                  </a:cubicBezTo>
                  <a:lnTo>
                    <a:pt x="0" y="14744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4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074479" cy="45811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44976" y="4936065"/>
            <a:ext cx="5251025" cy="1236135"/>
            <a:chOff x="0" y="0"/>
            <a:chExt cx="2074479" cy="48835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74479" cy="488350"/>
            </a:xfrm>
            <a:custGeom>
              <a:avLst/>
              <a:gdLst/>
              <a:ahLst/>
              <a:cxnLst/>
              <a:rect l="l" t="t" r="r" b="b"/>
              <a:pathLst>
                <a:path w="2074479" h="488350">
                  <a:moveTo>
                    <a:pt x="14744" y="0"/>
                  </a:moveTo>
                  <a:lnTo>
                    <a:pt x="2059735" y="0"/>
                  </a:lnTo>
                  <a:cubicBezTo>
                    <a:pt x="2063645" y="0"/>
                    <a:pt x="2067396" y="1553"/>
                    <a:pt x="2070160" y="4318"/>
                  </a:cubicBezTo>
                  <a:cubicBezTo>
                    <a:pt x="2072925" y="7083"/>
                    <a:pt x="2074479" y="10833"/>
                    <a:pt x="2074479" y="14744"/>
                  </a:cubicBezTo>
                  <a:lnTo>
                    <a:pt x="2074479" y="473606"/>
                  </a:lnTo>
                  <a:cubicBezTo>
                    <a:pt x="2074479" y="477516"/>
                    <a:pt x="2072925" y="481267"/>
                    <a:pt x="2070160" y="484032"/>
                  </a:cubicBezTo>
                  <a:cubicBezTo>
                    <a:pt x="2067396" y="486796"/>
                    <a:pt x="2063645" y="488350"/>
                    <a:pt x="2059735" y="488350"/>
                  </a:cubicBezTo>
                  <a:lnTo>
                    <a:pt x="14744" y="488350"/>
                  </a:lnTo>
                  <a:cubicBezTo>
                    <a:pt x="10833" y="488350"/>
                    <a:pt x="7083" y="486796"/>
                    <a:pt x="4318" y="484032"/>
                  </a:cubicBezTo>
                  <a:cubicBezTo>
                    <a:pt x="1553" y="481267"/>
                    <a:pt x="0" y="477516"/>
                    <a:pt x="0" y="473606"/>
                  </a:cubicBezTo>
                  <a:lnTo>
                    <a:pt x="0" y="14744"/>
                  </a:lnTo>
                  <a:cubicBezTo>
                    <a:pt x="0" y="10833"/>
                    <a:pt x="1553" y="7083"/>
                    <a:pt x="4318" y="4318"/>
                  </a:cubicBezTo>
                  <a:cubicBezTo>
                    <a:pt x="7083" y="1553"/>
                    <a:pt x="10833" y="0"/>
                    <a:pt x="14744" y="0"/>
                  </a:cubicBezTo>
                  <a:close/>
                </a:path>
              </a:pathLst>
            </a:custGeom>
            <a:ln w="19050" cap="sq">
              <a:solidFill>
                <a:srgbClr val="6B728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2074479" cy="4883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sp>
        <p:nvSpPr>
          <p:cNvPr id="58" name="Freeform 58"/>
          <p:cNvSpPr/>
          <p:nvPr/>
        </p:nvSpPr>
        <p:spPr>
          <a:xfrm>
            <a:off x="7530457" y="2631031"/>
            <a:ext cx="1126474" cy="468895"/>
          </a:xfrm>
          <a:custGeom>
            <a:avLst/>
            <a:gdLst/>
            <a:ahLst/>
            <a:cxnLst/>
            <a:rect l="l" t="t" r="r" b="b"/>
            <a:pathLst>
              <a:path w="1689711" h="703342">
                <a:moveTo>
                  <a:pt x="0" y="0"/>
                </a:moveTo>
                <a:lnTo>
                  <a:pt x="1689710" y="0"/>
                </a:lnTo>
                <a:lnTo>
                  <a:pt x="1689710" y="703342"/>
                </a:lnTo>
                <a:lnTo>
                  <a:pt x="0" y="703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9" name="Freeform 59"/>
          <p:cNvSpPr/>
          <p:nvPr/>
        </p:nvSpPr>
        <p:spPr>
          <a:xfrm>
            <a:off x="6565196" y="2513381"/>
            <a:ext cx="844611" cy="704195"/>
          </a:xfrm>
          <a:custGeom>
            <a:avLst/>
            <a:gdLst/>
            <a:ahLst/>
            <a:cxnLst/>
            <a:rect l="l" t="t" r="r" b="b"/>
            <a:pathLst>
              <a:path w="1266917" h="1056292">
                <a:moveTo>
                  <a:pt x="0" y="0"/>
                </a:moveTo>
                <a:lnTo>
                  <a:pt x="1266917" y="0"/>
                </a:lnTo>
                <a:lnTo>
                  <a:pt x="1266917" y="1056292"/>
                </a:lnTo>
                <a:lnTo>
                  <a:pt x="0" y="1056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0" name="Freeform 60"/>
          <p:cNvSpPr/>
          <p:nvPr/>
        </p:nvSpPr>
        <p:spPr>
          <a:xfrm>
            <a:off x="8778238" y="2607426"/>
            <a:ext cx="1032207" cy="516104"/>
          </a:xfrm>
          <a:custGeom>
            <a:avLst/>
            <a:gdLst/>
            <a:ahLst/>
            <a:cxnLst/>
            <a:rect l="l" t="t" r="r" b="b"/>
            <a:pathLst>
              <a:path w="1548311" h="774156">
                <a:moveTo>
                  <a:pt x="0" y="0"/>
                </a:moveTo>
                <a:lnTo>
                  <a:pt x="1548311" y="0"/>
                </a:lnTo>
                <a:lnTo>
                  <a:pt x="1548311" y="774156"/>
                </a:lnTo>
                <a:lnTo>
                  <a:pt x="0" y="7741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1" name="Freeform 61"/>
          <p:cNvSpPr/>
          <p:nvPr/>
        </p:nvSpPr>
        <p:spPr>
          <a:xfrm>
            <a:off x="10998711" y="2571274"/>
            <a:ext cx="679699" cy="531864"/>
          </a:xfrm>
          <a:custGeom>
            <a:avLst/>
            <a:gdLst/>
            <a:ahLst/>
            <a:cxnLst/>
            <a:rect l="l" t="t" r="r" b="b"/>
            <a:pathLst>
              <a:path w="1019548" h="797796">
                <a:moveTo>
                  <a:pt x="0" y="0"/>
                </a:moveTo>
                <a:lnTo>
                  <a:pt x="1019548" y="0"/>
                </a:lnTo>
                <a:lnTo>
                  <a:pt x="1019548" y="797796"/>
                </a:lnTo>
                <a:lnTo>
                  <a:pt x="0" y="797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2" name="Freeform 62"/>
          <p:cNvSpPr/>
          <p:nvPr/>
        </p:nvSpPr>
        <p:spPr>
          <a:xfrm>
            <a:off x="9939643" y="2607426"/>
            <a:ext cx="1008687" cy="552256"/>
          </a:xfrm>
          <a:custGeom>
            <a:avLst/>
            <a:gdLst/>
            <a:ahLst/>
            <a:cxnLst/>
            <a:rect l="l" t="t" r="r" b="b"/>
            <a:pathLst>
              <a:path w="1513030" h="828384">
                <a:moveTo>
                  <a:pt x="0" y="0"/>
                </a:moveTo>
                <a:lnTo>
                  <a:pt x="1513030" y="0"/>
                </a:lnTo>
                <a:lnTo>
                  <a:pt x="1513030" y="828384"/>
                </a:lnTo>
                <a:lnTo>
                  <a:pt x="0" y="828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3" name="Freeform 63"/>
          <p:cNvSpPr/>
          <p:nvPr/>
        </p:nvSpPr>
        <p:spPr>
          <a:xfrm flipH="1">
            <a:off x="11620549" y="76200"/>
            <a:ext cx="432719" cy="373712"/>
          </a:xfrm>
          <a:custGeom>
            <a:avLst/>
            <a:gdLst/>
            <a:ahLst/>
            <a:cxnLst/>
            <a:rect l="l" t="t" r="r" b="b"/>
            <a:pathLst>
              <a:path w="649079" h="560568">
                <a:moveTo>
                  <a:pt x="649079" y="0"/>
                </a:moveTo>
                <a:lnTo>
                  <a:pt x="0" y="0"/>
                </a:lnTo>
                <a:lnTo>
                  <a:pt x="0" y="560568"/>
                </a:lnTo>
                <a:lnTo>
                  <a:pt x="649079" y="560568"/>
                </a:lnTo>
                <a:lnTo>
                  <a:pt x="64907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91021" y="571581"/>
            <a:ext cx="1896515" cy="769117"/>
            <a:chOff x="0" y="0"/>
            <a:chExt cx="749240" cy="3038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9240" cy="303849"/>
            </a:xfrm>
            <a:custGeom>
              <a:avLst/>
              <a:gdLst/>
              <a:ahLst/>
              <a:cxnLst/>
              <a:rect l="l" t="t" r="r" b="b"/>
              <a:pathLst>
                <a:path w="749240" h="303849">
                  <a:moveTo>
                    <a:pt x="0" y="0"/>
                  </a:moveTo>
                  <a:lnTo>
                    <a:pt x="749240" y="0"/>
                  </a:lnTo>
                  <a:lnTo>
                    <a:pt x="749240" y="303849"/>
                  </a:lnTo>
                  <a:lnTo>
                    <a:pt x="0" y="303849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749240" cy="3038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4975" y="354060"/>
            <a:ext cx="10485120" cy="872337"/>
            <a:chOff x="0" y="0"/>
            <a:chExt cx="20970240" cy="17446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70239" cy="1744675"/>
            </a:xfrm>
            <a:custGeom>
              <a:avLst/>
              <a:gdLst/>
              <a:ahLst/>
              <a:cxnLst/>
              <a:rect l="l" t="t" r="r" b="b"/>
              <a:pathLst>
                <a:path w="20970239" h="1744675">
                  <a:moveTo>
                    <a:pt x="0" y="0"/>
                  </a:moveTo>
                  <a:lnTo>
                    <a:pt x="20970239" y="0"/>
                  </a:lnTo>
                  <a:lnTo>
                    <a:pt x="20970239" y="1744675"/>
                  </a:lnTo>
                  <a:lnTo>
                    <a:pt x="0" y="1744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5284" b="-183118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970240" cy="1744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440"/>
                </a:lnSpc>
              </a:pPr>
              <a:r>
                <a:rPr lang="en-US" sz="4534" b="1">
                  <a:solidFill>
                    <a:srgbClr val="111827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Watch Agnes think</a:t>
              </a:r>
              <a:r>
                <a:rPr lang="en-US" sz="4534" b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79241" y="1774612"/>
            <a:ext cx="4016588" cy="4016588"/>
            <a:chOff x="0" y="0"/>
            <a:chExt cx="6617551" cy="661755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6583681" cy="6583681"/>
            </a:xfrm>
            <a:custGeom>
              <a:avLst/>
              <a:gdLst/>
              <a:ahLst/>
              <a:cxnLst/>
              <a:rect l="l" t="t" r="r" b="b"/>
              <a:pathLst>
                <a:path w="6583681" h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6583681"/>
                  </a:lnTo>
                  <a:lnTo>
                    <a:pt x="0" y="6583681"/>
                  </a:lnTo>
                  <a:close/>
                </a:path>
              </a:pathLst>
            </a:custGeom>
            <a:blipFill>
              <a:blip r:embed="rId4"/>
              <a:stretch>
                <a:fillRect t="-143" b="-143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6617462" cy="6617462"/>
            </a:xfrm>
            <a:custGeom>
              <a:avLst/>
              <a:gdLst/>
              <a:ahLst/>
              <a:cxnLst/>
              <a:rect l="l" t="t" r="r" b="b"/>
              <a:pathLst>
                <a:path w="6617462" h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6600572"/>
                  </a:lnTo>
                  <a:cubicBezTo>
                    <a:pt x="6617462" y="6609969"/>
                    <a:pt x="6609842" y="6617462"/>
                    <a:pt x="6600572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6600572" y="6583680"/>
                  </a:lnTo>
                  <a:lnTo>
                    <a:pt x="6600572" y="6600572"/>
                  </a:lnTo>
                  <a:lnTo>
                    <a:pt x="6583680" y="6600572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5E7EB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50080" y="5989320"/>
            <a:ext cx="3291840" cy="365760"/>
            <a:chOff x="0" y="0"/>
            <a:chExt cx="658368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65836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0"/>
                </a:lnSpc>
              </a:pPr>
              <a:r>
                <a:rPr lang="en-US" sz="1200">
                  <a:solidFill>
                    <a:srgbClr val="3B82F6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supplywiseai.vercel.app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377</Words>
  <Application>Microsoft Macintosh PowerPoint</Application>
  <PresentationFormat>Widescreen</PresentationFormat>
  <Paragraphs>61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Alegreya Sans Bold</vt:lpstr>
      <vt:lpstr>Aptos</vt:lpstr>
      <vt:lpstr>Aptos Display</vt:lpstr>
      <vt:lpstr>Arial</vt:lpstr>
      <vt:lpstr>HK Grotesk Bold Italics</vt:lpstr>
      <vt:lpstr>Source Sans 3</vt:lpstr>
      <vt:lpstr>Source Sans 3 Bold</vt:lpstr>
      <vt:lpstr>Source Sans 3 Italics</vt:lpstr>
      <vt:lpstr>Source Sans Pro</vt:lpstr>
      <vt:lpstr>Source Sans Pro Bold</vt:lpstr>
      <vt:lpstr>Source Sans Pro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Vinayak Joshi</dc:creator>
  <cp:lastModifiedBy>Vinayak Joshi</cp:lastModifiedBy>
  <cp:revision>3</cp:revision>
  <dcterms:created xsi:type="dcterms:W3CDTF">2026-04-09T08:36:37Z</dcterms:created>
  <dcterms:modified xsi:type="dcterms:W3CDTF">2026-04-09T10:37:32Z</dcterms:modified>
</cp:coreProperties>
</file>